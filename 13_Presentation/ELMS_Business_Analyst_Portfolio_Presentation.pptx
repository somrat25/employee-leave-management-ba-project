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1675"/>
  <p:notesSz cx="6858000" cy="9144000"/>
  <p:embeddedFontLst>
    <p:embeddedFont>
      <p:font typeface="Play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j4CsQNfK7E20GYhKN4YPYio4tM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ay-bold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337bb1e725fc2d90_1_264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337bb1e725fc2d90_1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h337bb1e725fc2d90_1_0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h337bb1e725fc2d9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4968450204ccdc82_15_0)">
  <p:cSld name="Generated (h4968450204ccdc82_15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hyperlink" Target="https://github.com/Somrat25/Employee-Leave-Management-BA-Project" TargetMode="External"/><Relationship Id="rId5" Type="http://schemas.openxmlformats.org/officeDocument/2006/relationships/hyperlink" Target="http://www.linkedin.com/in/moshahed-somra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337bb1e725fc2d90_1_26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h337bb1e725fc2d90_1_264"/>
          <p:cNvSpPr txBox="1"/>
          <p:nvPr/>
        </p:nvSpPr>
        <p:spPr>
          <a:xfrm>
            <a:off x="762000" y="1905000"/>
            <a:ext cx="10668000" cy="3619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Employee Leave Management &amp; Workforce Analytics System (ELMS)</a:t>
            </a:r>
            <a:endParaRPr b="1" sz="4000">
              <a:solidFill>
                <a:srgbClr val="142037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060A0"/>
                </a:solidFill>
                <a:latin typeface="Arial"/>
                <a:ea typeface="Arial"/>
                <a:cs typeface="Arial"/>
                <a:sym typeface="Arial"/>
              </a:rPr>
              <a:t>Business Analysis Portfolio Project</a:t>
            </a:r>
            <a:endParaRPr b="1" sz="2200">
              <a:solidFill>
                <a:srgbClr val="306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Presented by: Moshahed </a:t>
            </a:r>
            <a:r>
              <a:rPr lang="en-US" sz="1600">
                <a:solidFill>
                  <a:srgbClr val="64748B"/>
                </a:solidFill>
              </a:rPr>
              <a:t>Ullah</a:t>
            </a:r>
            <a:endParaRPr b="0"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h337bb1e725fc2d90_1_264"/>
          <p:cNvSpPr/>
          <p:nvPr/>
        </p:nvSpPr>
        <p:spPr>
          <a:xfrm>
            <a:off x="594360" y="2708015"/>
            <a:ext cx="76200" cy="2095500"/>
          </a:xfrm>
          <a:prstGeom prst="roundRect">
            <a:avLst>
              <a:gd fmla="val 50000" name="adj"/>
            </a:avLst>
          </a:prstGeom>
          <a:solidFill>
            <a:srgbClr val="3060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h337bb1e725fc2d90_1_264"/>
          <p:cNvSpPr/>
          <p:nvPr/>
        </p:nvSpPr>
        <p:spPr>
          <a:xfrm>
            <a:off x="594360" y="6473952"/>
            <a:ext cx="10972800" cy="18300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h337bb1e725fc2d90_1_264"/>
          <p:cNvSpPr txBox="1"/>
          <p:nvPr/>
        </p:nvSpPr>
        <p:spPr>
          <a:xfrm>
            <a:off x="621792" y="6510528"/>
            <a:ext cx="10789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ELMS • Business Analysis Portfolio Project 1</a:t>
            </a:r>
            <a:endParaRPr b="0" sz="8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Business Problem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Understanding the current process before defining the solution.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640080" y="1417320"/>
            <a:ext cx="3429000" cy="150876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640080" y="1417320"/>
            <a:ext cx="73152" cy="1508760"/>
          </a:xfrm>
          <a:prstGeom prst="rect">
            <a:avLst/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841247" y="156362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Manual leave processing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841247" y="1984248"/>
            <a:ext cx="3108960" cy="795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Requests, balance checks and record updates were partially manual.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4389120" y="1417320"/>
            <a:ext cx="3429000" cy="150876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4389120" y="1417320"/>
            <a:ext cx="73152" cy="1508760"/>
          </a:xfrm>
          <a:prstGeom prst="rect">
            <a:avLst/>
          </a:prstGeom>
          <a:solidFill>
            <a:srgbClr val="D684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4590288" y="156362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Approval bottlenecks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4590288" y="1984248"/>
            <a:ext cx="3108960" cy="795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Manager communication and approval could create delays.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8138160" y="1417320"/>
            <a:ext cx="3429000" cy="150876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8138160" y="1417320"/>
            <a:ext cx="73152" cy="1508760"/>
          </a:xfrm>
          <a:prstGeom prst="rect">
            <a:avLst/>
          </a:prstGeom>
          <a:solidFill>
            <a:srgbClr val="237D5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8339328" y="156362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Limited visibility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8339328" y="1984248"/>
            <a:ext cx="3108960" cy="795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Employees had limited visibility of request status and balance.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2514600" y="3246120"/>
            <a:ext cx="3429000" cy="150876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2514600" y="3246120"/>
            <a:ext cx="73152" cy="1508760"/>
          </a:xfrm>
          <a:prstGeom prst="rect">
            <a:avLst/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2715768" y="339242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Difficult analysis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2715768" y="3813048"/>
            <a:ext cx="3108960" cy="795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Leave data was harder to analyze across departments and periods.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6263640" y="3246120"/>
            <a:ext cx="3429000" cy="150876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6263640" y="3246120"/>
            <a:ext cx="73152" cy="1508760"/>
          </a:xfrm>
          <a:prstGeom prst="rect">
            <a:avLst/>
          </a:prstGeom>
          <a:solidFill>
            <a:srgbClr val="D684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6464807" y="339242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Business impact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6464807" y="3813048"/>
            <a:ext cx="3108960" cy="795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Administrative effort, follow-ups and inconsistent visibility reduced process efficiency.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621792" y="651052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ELMS • Business Analysis Portfolio Project    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Business Objectives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What the proposed ELMS should achieve.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822960" y="1417320"/>
            <a:ext cx="649224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Centralize employee leave management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Reduce manual administrative work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Improve leave request and status visibility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Provide leave balance visibility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Streamline manager approval and rejection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Improve HR/Admin leave record management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Enable reporting and workforce leave analytics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7635240" y="1508760"/>
            <a:ext cx="3474720" cy="1874519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7635240" y="1508760"/>
            <a:ext cx="73152" cy="1874519"/>
          </a:xfrm>
          <a:prstGeom prst="rect">
            <a:avLst/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7836408" y="1655063"/>
            <a:ext cx="315467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Target outcome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7836408" y="2075688"/>
            <a:ext cx="3154679" cy="116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 transparent, centralized workflow that connects employees, managers, HR/Admin and management.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7635240" y="3657600"/>
            <a:ext cx="3474720" cy="1874519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7635240" y="3657600"/>
            <a:ext cx="73152" cy="1874519"/>
          </a:xfrm>
          <a:prstGeom prst="rect">
            <a:avLst/>
          </a:prstGeom>
          <a:solidFill>
            <a:srgbClr val="237D5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7836408" y="3803904"/>
            <a:ext cx="315467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BA focus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7836408" y="4224528"/>
            <a:ext cx="3154679" cy="116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Translate business needs into clear requirements, processes, rules and measurable acceptance criteria.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621792" y="651052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ELMS • Business Analysis Portfolio Project     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Stakeholder Analysis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Different users need different outcomes from the same process.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731520" y="1417320"/>
            <a:ext cx="5074920" cy="16002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731520" y="1417320"/>
            <a:ext cx="73152" cy="1600200"/>
          </a:xfrm>
          <a:prstGeom prst="rect">
            <a:avLst/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932688" y="156362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Employee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932688" y="1984248"/>
            <a:ext cx="4754880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Submit leave • view balance • track status/history</a:t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6309359" y="1417320"/>
            <a:ext cx="5074920" cy="16002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309359" y="1417320"/>
            <a:ext cx="73152" cy="1600200"/>
          </a:xfrm>
          <a:prstGeom prst="rect">
            <a:avLst/>
          </a:prstGeom>
          <a:solidFill>
            <a:srgbClr val="D684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6510527" y="156362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Manager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6510527" y="1984248"/>
            <a:ext cx="4754880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Review requests • approve/reject • provide rejection reason</a:t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731520" y="3566160"/>
            <a:ext cx="5074920" cy="16002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731520" y="3566160"/>
            <a:ext cx="73152" cy="1600200"/>
          </a:xfrm>
          <a:prstGeom prst="rect">
            <a:avLst/>
          </a:prstGeom>
          <a:solidFill>
            <a:srgbClr val="237D5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932688" y="371246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HR / Admin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932688" y="4133088"/>
            <a:ext cx="4754880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Manage employees • leave types • entitlements • records</a:t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6309359" y="3566160"/>
            <a:ext cx="5074920" cy="16002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6309359" y="3566160"/>
            <a:ext cx="73152" cy="1600200"/>
          </a:xfrm>
          <a:prstGeom prst="rect">
            <a:avLst/>
          </a:prstGeom>
          <a:solidFill>
            <a:srgbClr val="825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6510527" y="371246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Management</a:t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6510527" y="4133088"/>
            <a:ext cx="4754880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View trends • department analysis • approval statistics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621792" y="651052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ELMS • Business Analysis Portfolio Project     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As-Is vs To-Be Process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analysis focused on replacing manual handoffs with a centralized workflow.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777240" y="13258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AS-IS • Manual workflow</a:t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6446520" y="13258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TO-BE • ELMS workflow</a:t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1143000" y="1783080"/>
            <a:ext cx="3931920" cy="438912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1216152" y="1856231"/>
            <a:ext cx="3785615" cy="2926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Employee</a:t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2788920" y="2231136"/>
            <a:ext cx="594360" cy="228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684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1143000" y="2468880"/>
            <a:ext cx="3931920" cy="438912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1216152" y="2542032"/>
            <a:ext cx="3785615" cy="2926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Manual request</a:t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2788920" y="2916936"/>
            <a:ext cx="594360" cy="228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684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1143000" y="3154680"/>
            <a:ext cx="3931920" cy="438912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1216152" y="3227832"/>
            <a:ext cx="3785615" cy="2926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HR balance check</a:t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2788920" y="3602736"/>
            <a:ext cx="594360" cy="228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684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1143000" y="3840480"/>
            <a:ext cx="3931920" cy="438912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1216152" y="3913632"/>
            <a:ext cx="3785615" cy="2926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Manager approval</a:t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2788920" y="4288536"/>
            <a:ext cx="594360" cy="228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684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1143000" y="4526280"/>
            <a:ext cx="3931920" cy="438912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1216152" y="4599432"/>
            <a:ext cx="3785615" cy="2926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HR record update</a:t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2788920" y="4974336"/>
            <a:ext cx="594360" cy="228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684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1143000" y="5212080"/>
            <a:ext cx="3931920" cy="438912"/>
          </a:xfrm>
          <a:prstGeom prst="roundRect">
            <a:avLst>
              <a:gd fmla="val 16667" name="adj"/>
            </a:avLst>
          </a:prstGeom>
          <a:solidFill>
            <a:srgbClr val="FFF4E8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1216152" y="5285232"/>
            <a:ext cx="3785615" cy="2926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Employee follow-up</a:t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6720840" y="1783080"/>
            <a:ext cx="3931920" cy="438912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6793992" y="1856231"/>
            <a:ext cx="3785615" cy="2926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Employee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8366760" y="2231136"/>
            <a:ext cx="594360" cy="228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7D5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6720840" y="2468880"/>
            <a:ext cx="3931920" cy="438912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6793992" y="2542032"/>
            <a:ext cx="3785615" cy="2926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Submit in ELMS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8366760" y="2916936"/>
            <a:ext cx="594360" cy="228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7D5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6720840" y="3154680"/>
            <a:ext cx="3931920" cy="438912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6793992" y="3227832"/>
            <a:ext cx="3785615" cy="2926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Manager review</a:t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8366760" y="3602736"/>
            <a:ext cx="594360" cy="228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7D5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6720840" y="3840480"/>
            <a:ext cx="3931920" cy="438912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6793992" y="3913632"/>
            <a:ext cx="3785615" cy="2926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Approve / Reject</a:t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8366760" y="4288536"/>
            <a:ext cx="594360" cy="228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7D5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6720840" y="4526280"/>
            <a:ext cx="3931920" cy="438912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6793992" y="4599432"/>
            <a:ext cx="3785615" cy="2926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Auto status update</a:t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8366760" y="4974336"/>
            <a:ext cx="594360" cy="228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7D5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6720840" y="5212080"/>
            <a:ext cx="3931920" cy="438912"/>
          </a:xfrm>
          <a:prstGeom prst="roundRect">
            <a:avLst>
              <a:gd fmla="val 16667" name="adj"/>
            </a:avLst>
          </a:prstGeom>
          <a:solidFill>
            <a:srgbClr val="E9F8F1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6793992" y="5285232"/>
            <a:ext cx="3785615" cy="2926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Employee sees status</a:t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621792" y="651052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ELMS • Business Analysis Portfolio Project     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Requirements Analysis</a:t>
            </a:r>
            <a:endParaRPr/>
          </a:p>
        </p:txBody>
      </p:sp>
      <p:sp>
        <p:nvSpPr>
          <p:cNvPr id="213" name="Google Shape;213;p6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Turning business needs into actionable system requirements.</a:t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685800" y="1417320"/>
            <a:ext cx="3520440" cy="3429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685800" y="1417320"/>
            <a:ext cx="73152" cy="3429000"/>
          </a:xfrm>
          <a:prstGeom prst="rect">
            <a:avLst/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886968" y="156362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Business Requirements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886968" y="1984248"/>
            <a:ext cx="3200400" cy="2715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BR-01  Centralize leave management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BR-02  Reduce manual administration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BR-03  Improve status visibility</a:t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4343400" y="1417320"/>
            <a:ext cx="3520440" cy="3429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343400" y="1417320"/>
            <a:ext cx="73152" cy="3429000"/>
          </a:xfrm>
          <a:prstGeom prst="rect">
            <a:avLst/>
          </a:prstGeom>
          <a:solidFill>
            <a:srgbClr val="237D5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4544568" y="156362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Functional Requirements</a:t>
            </a:r>
            <a:endParaRPr/>
          </a:p>
        </p:txBody>
      </p:sp>
      <p:sp>
        <p:nvSpPr>
          <p:cNvPr id="221" name="Google Shape;221;p6"/>
          <p:cNvSpPr txBox="1"/>
          <p:nvPr/>
        </p:nvSpPr>
        <p:spPr>
          <a:xfrm>
            <a:off x="4544568" y="1984248"/>
            <a:ext cx="3200400" cy="2715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Login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Submit leave request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View leave balance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Track request status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Manager approval/rejection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HR/Admin management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Reporting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8001000" y="1417320"/>
            <a:ext cx="3520440" cy="3429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8001000" y="1417320"/>
            <a:ext cx="73152" cy="3429000"/>
          </a:xfrm>
          <a:prstGeom prst="rect">
            <a:avLst/>
          </a:prstGeom>
          <a:solidFill>
            <a:srgbClr val="D684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8202168" y="156362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Non-Functional Requirements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8202168" y="1984248"/>
            <a:ext cx="3200400" cy="2715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Usability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Performance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Security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Availability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Example: page response target defined as a measurable requirement.</a:t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621792" y="651052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ELMS • Business Analysis Portfolio Project     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Agile &amp; Jira Delivery</a:t>
            </a:r>
            <a:endParaRPr/>
          </a:p>
        </p:txBody>
      </p:sp>
      <p:sp>
        <p:nvSpPr>
          <p:cNvPr id="234" name="Google Shape;234;p7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Requirements were translated into a backlog and sprint-ready user stories.</a:t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594360" y="1417320"/>
            <a:ext cx="1554480" cy="658368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667512" y="1490472"/>
            <a:ext cx="14081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Product Vision</a:t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2167128" y="1591056"/>
            <a:ext cx="292608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2468879" y="1417320"/>
            <a:ext cx="1554480" cy="658368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 txBox="1"/>
          <p:nvPr/>
        </p:nvSpPr>
        <p:spPr>
          <a:xfrm>
            <a:off x="2542032" y="1490472"/>
            <a:ext cx="14081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Epics / Features</a:t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4041648" y="1591056"/>
            <a:ext cx="292608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4343400" y="1417320"/>
            <a:ext cx="1554480" cy="658368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4416552" y="1490472"/>
            <a:ext cx="14081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User Stories</a:t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5916168" y="1591056"/>
            <a:ext cx="292608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217920" y="1417320"/>
            <a:ext cx="1554480" cy="658368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6291072" y="1490472"/>
            <a:ext cx="14081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Acceptance Criteria</a:t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7790688" y="1591056"/>
            <a:ext cx="292608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8092440" y="1417320"/>
            <a:ext cx="1554480" cy="658368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8165592" y="1490472"/>
            <a:ext cx="14081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Sprint Planning</a:t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9665208" y="1591056"/>
            <a:ext cx="292608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9966960" y="1417320"/>
            <a:ext cx="1554480" cy="658368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 txBox="1"/>
          <p:nvPr/>
        </p:nvSpPr>
        <p:spPr>
          <a:xfrm>
            <a:off x="10040112" y="1490472"/>
            <a:ext cx="14081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Review &amp; Retrospective</a:t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777240" y="2788920"/>
            <a:ext cx="5074920" cy="141732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777240" y="2788920"/>
            <a:ext cx="73152" cy="1417320"/>
          </a:xfrm>
          <a:prstGeom prst="rect">
            <a:avLst/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978408" y="293522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Example user story</a:t>
            </a:r>
            <a:endParaRPr/>
          </a:p>
        </p:txBody>
      </p:sp>
      <p:sp>
        <p:nvSpPr>
          <p:cNvPr id="255" name="Google Shape;255;p7"/>
          <p:cNvSpPr txBox="1"/>
          <p:nvPr/>
        </p:nvSpPr>
        <p:spPr>
          <a:xfrm>
            <a:off x="978408" y="3355848"/>
            <a:ext cx="4754880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As an employee, I want to submit a leave request so that I can request leave online.</a:t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6080760" y="2788920"/>
            <a:ext cx="5074920" cy="141732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080760" y="2788920"/>
            <a:ext cx="73152" cy="1417320"/>
          </a:xfrm>
          <a:prstGeom prst="rect">
            <a:avLst/>
          </a:prstGeom>
          <a:solidFill>
            <a:srgbClr val="237D5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 txBox="1"/>
          <p:nvPr/>
        </p:nvSpPr>
        <p:spPr>
          <a:xfrm>
            <a:off x="6281928" y="293522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Acceptance criteria</a:t>
            </a:r>
            <a:endParaRPr/>
          </a:p>
        </p:txBody>
      </p:sp>
      <p:sp>
        <p:nvSpPr>
          <p:cNvPr id="259" name="Google Shape;259;p7"/>
          <p:cNvSpPr txBox="1"/>
          <p:nvPr/>
        </p:nvSpPr>
        <p:spPr>
          <a:xfrm>
            <a:off x="6281928" y="3355848"/>
            <a:ext cx="4754880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Valid request can be submitted • balance is validated • request status is displayed • invalid requests are rejected appropriately.</a:t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2148840" y="4617720"/>
            <a:ext cx="7863840" cy="96012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2148840" y="4617720"/>
            <a:ext cx="73152" cy="960120"/>
          </a:xfrm>
          <a:prstGeom prst="rect">
            <a:avLst/>
          </a:prstGeom>
          <a:solidFill>
            <a:srgbClr val="D684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 txBox="1"/>
          <p:nvPr/>
        </p:nvSpPr>
        <p:spPr>
          <a:xfrm>
            <a:off x="2350008" y="4764024"/>
            <a:ext cx="7543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Jira evidence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2350008" y="5184648"/>
            <a:ext cx="7543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Backlog → Sprint → Story → Subtasks → Status → Sprint Review / Retrospective</a:t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621792" y="651052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ELMS • Business Analysis Portfolio Project     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Solution Modeling</a:t>
            </a:r>
            <a:endParaRPr/>
          </a:p>
        </p:txBody>
      </p:sp>
      <p:sp>
        <p:nvSpPr>
          <p:cNvPr id="272" name="Google Shape;272;p8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Visual models were used to communicate the proposed solution clearly.</a:t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685800" y="1417320"/>
            <a:ext cx="3429000" cy="356616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685800" y="1417320"/>
            <a:ext cx="73152" cy="3566160"/>
          </a:xfrm>
          <a:prstGeom prst="rect">
            <a:avLst/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886968" y="156362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Use Case Model</a:t>
            </a:r>
            <a:endParaRPr/>
          </a:p>
        </p:txBody>
      </p:sp>
      <p:sp>
        <p:nvSpPr>
          <p:cNvPr id="276" name="Google Shape;276;p8"/>
          <p:cNvSpPr txBox="1"/>
          <p:nvPr/>
        </p:nvSpPr>
        <p:spPr>
          <a:xfrm>
            <a:off x="886968" y="1984248"/>
            <a:ext cx="3108960" cy="2852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Employee</a:t>
            </a: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Manager</a:t>
            </a: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HR/Admin</a:t>
            </a: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Management</a:t>
            </a: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→ ELMS use cases</a:t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4389120" y="1417320"/>
            <a:ext cx="3429000" cy="356616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389120" y="1417320"/>
            <a:ext cx="73152" cy="3566160"/>
          </a:xfrm>
          <a:prstGeom prst="rect">
            <a:avLst/>
          </a:prstGeom>
          <a:solidFill>
            <a:srgbClr val="237D5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 txBox="1"/>
          <p:nvPr/>
        </p:nvSpPr>
        <p:spPr>
          <a:xfrm>
            <a:off x="4590288" y="156362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System Context</a:t>
            </a:r>
            <a:endParaRPr/>
          </a:p>
        </p:txBody>
      </p:sp>
      <p:sp>
        <p:nvSpPr>
          <p:cNvPr id="280" name="Google Shape;280;p8"/>
          <p:cNvSpPr txBox="1"/>
          <p:nvPr/>
        </p:nvSpPr>
        <p:spPr>
          <a:xfrm>
            <a:off x="4590288" y="1984248"/>
            <a:ext cx="3108960" cy="2852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Employees / Managers / HR</a:t>
            </a: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↕</a:t>
            </a: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ELMS</a:t>
            </a: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↕</a:t>
            </a: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Management / Reporting</a:t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8092440" y="1417320"/>
            <a:ext cx="3429000" cy="356616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8092440" y="1417320"/>
            <a:ext cx="73152" cy="3566160"/>
          </a:xfrm>
          <a:prstGeom prst="rect">
            <a:avLst/>
          </a:prstGeom>
          <a:solidFill>
            <a:srgbClr val="D684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 txBox="1"/>
          <p:nvPr/>
        </p:nvSpPr>
        <p:spPr>
          <a:xfrm>
            <a:off x="8293608" y="156362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ERD / Data Model</a:t>
            </a:r>
            <a:endParaRPr/>
          </a:p>
        </p:txBody>
      </p:sp>
      <p:sp>
        <p:nvSpPr>
          <p:cNvPr id="284" name="Google Shape;284;p8"/>
          <p:cNvSpPr txBox="1"/>
          <p:nvPr/>
        </p:nvSpPr>
        <p:spPr>
          <a:xfrm>
            <a:off x="8293608" y="1984248"/>
            <a:ext cx="3108960" cy="2852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Employee</a:t>
            </a: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Department</a:t>
            </a: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Leave Type</a:t>
            </a: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Leave Request</a:t>
            </a: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Leave Balance</a:t>
            </a: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Relationships support reporting.</a:t>
            </a:r>
            <a:endParaRPr/>
          </a:p>
        </p:txBody>
      </p:sp>
      <p:sp>
        <p:nvSpPr>
          <p:cNvPr id="285" name="Google Shape;285;p8"/>
          <p:cNvSpPr txBox="1"/>
          <p:nvPr/>
        </p:nvSpPr>
        <p:spPr>
          <a:xfrm>
            <a:off x="914400" y="53492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Diagrams support requirement understanding, stakeholder communication and solution validation.</a:t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621792" y="651052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ELMS • Business Analysis Portfolio Project     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Prototype &amp; User Experience</a:t>
            </a:r>
            <a:endParaRPr/>
          </a:p>
        </p:txBody>
      </p:sp>
      <p:sp>
        <p:nvSpPr>
          <p:cNvPr id="294" name="Google Shape;294;p9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Figma was used to visualize role-based workflows before implementation.</a:t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685800" y="1417320"/>
            <a:ext cx="3429000" cy="361188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685800" y="1417320"/>
            <a:ext cx="73152" cy="3611880"/>
          </a:xfrm>
          <a:prstGeom prst="rect">
            <a:avLst/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886968" y="156362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Employee ESS</a:t>
            </a:r>
            <a:endParaRPr/>
          </a:p>
        </p:txBody>
      </p:sp>
      <p:sp>
        <p:nvSpPr>
          <p:cNvPr id="298" name="Google Shape;298;p9"/>
          <p:cNvSpPr txBox="1"/>
          <p:nvPr/>
        </p:nvSpPr>
        <p:spPr>
          <a:xfrm>
            <a:off x="886968" y="1984248"/>
            <a:ext cx="3108960" cy="2898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Leave balance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Submit request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Request history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Pending / Approved / Rejected status</a:t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4389120" y="1417320"/>
            <a:ext cx="3429000" cy="361188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4389120" y="1417320"/>
            <a:ext cx="73152" cy="3611880"/>
          </a:xfrm>
          <a:prstGeom prst="rect">
            <a:avLst/>
          </a:prstGeom>
          <a:solidFill>
            <a:srgbClr val="237D5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4590288" y="156362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Manager Command Center</a:t>
            </a:r>
            <a:endParaRPr/>
          </a:p>
        </p:txBody>
      </p:sp>
      <p:sp>
        <p:nvSpPr>
          <p:cNvPr id="302" name="Google Shape;302;p9"/>
          <p:cNvSpPr txBox="1"/>
          <p:nvPr/>
        </p:nvSpPr>
        <p:spPr>
          <a:xfrm>
            <a:off x="4590288" y="1984248"/>
            <a:ext cx="3108960" cy="2898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Pending requests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Overlap/conflict visibility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Approve / Reject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Mandatory rejection reason</a:t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8092440" y="1417320"/>
            <a:ext cx="3429000" cy="361188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8092440" y="1417320"/>
            <a:ext cx="73152" cy="3611880"/>
          </a:xfrm>
          <a:prstGeom prst="rect">
            <a:avLst/>
          </a:prstGeom>
          <a:solidFill>
            <a:srgbClr val="D684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8293608" y="156362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HR Admin</a:t>
            </a:r>
            <a:endParaRPr/>
          </a:p>
        </p:txBody>
      </p:sp>
      <p:sp>
        <p:nvSpPr>
          <p:cNvPr id="306" name="Google Shape;306;p9"/>
          <p:cNvSpPr txBox="1"/>
          <p:nvPr/>
        </p:nvSpPr>
        <p:spPr>
          <a:xfrm>
            <a:off x="8293608" y="1984248"/>
            <a:ext cx="3108960" cy="2898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Staff directory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Employee status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Leave administration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Centralized workforce view</a:t>
            </a:r>
            <a:endParaRPr/>
          </a:p>
        </p:txBody>
      </p:sp>
      <p:sp>
        <p:nvSpPr>
          <p:cNvPr id="307" name="Google Shape;307;p9"/>
          <p:cNvSpPr txBox="1"/>
          <p:nvPr/>
        </p:nvSpPr>
        <p:spPr>
          <a:xfrm>
            <a:off x="914400" y="53492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Prototype goal: make business workflows tangible and identify usability gaps early.</a:t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 txBox="1"/>
          <p:nvPr/>
        </p:nvSpPr>
        <p:spPr>
          <a:xfrm>
            <a:off x="621792" y="651052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ELMS • Business Analysis Portfolio Project     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Data Analysis &amp; Workforce Analytics</a:t>
            </a:r>
            <a:endParaRPr/>
          </a:p>
        </p:txBody>
      </p:sp>
      <p:sp>
        <p:nvSpPr>
          <p:cNvPr id="316" name="Google Shape;316;p10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SQL, spreadsheets and Power BI were used to move from data to business insight.</a:t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594360" y="1463040"/>
            <a:ext cx="2423160" cy="237744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594360" y="1463040"/>
            <a:ext cx="73152" cy="2377440"/>
          </a:xfrm>
          <a:prstGeom prst="rect">
            <a:avLst/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 txBox="1"/>
          <p:nvPr/>
        </p:nvSpPr>
        <p:spPr>
          <a:xfrm>
            <a:off x="795528" y="160934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ELMS Data</a:t>
            </a:r>
            <a:endParaRPr/>
          </a:p>
        </p:txBody>
      </p:sp>
      <p:sp>
        <p:nvSpPr>
          <p:cNvPr id="320" name="Google Shape;320;p10"/>
          <p:cNvSpPr txBox="1"/>
          <p:nvPr/>
        </p:nvSpPr>
        <p:spPr>
          <a:xfrm>
            <a:off x="795528" y="2029968"/>
            <a:ext cx="210312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Leave requests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employees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departments</a:t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3044952" y="2331720"/>
            <a:ext cx="347472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3474720" y="1463040"/>
            <a:ext cx="2423160" cy="237744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3474720" y="1463040"/>
            <a:ext cx="73152" cy="2377440"/>
          </a:xfrm>
          <a:prstGeom prst="rect">
            <a:avLst/>
          </a:prstGeom>
          <a:solidFill>
            <a:srgbClr val="237D5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 txBox="1"/>
          <p:nvPr/>
        </p:nvSpPr>
        <p:spPr>
          <a:xfrm>
            <a:off x="3675887" y="160934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/>
          </a:p>
        </p:txBody>
      </p:sp>
      <p:sp>
        <p:nvSpPr>
          <p:cNvPr id="325" name="Google Shape;325;p10"/>
          <p:cNvSpPr txBox="1"/>
          <p:nvPr/>
        </p:nvSpPr>
        <p:spPr>
          <a:xfrm>
            <a:off x="3675887" y="2029968"/>
            <a:ext cx="210312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Queries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joins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aggregations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business questions</a:t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5925312" y="2331720"/>
            <a:ext cx="347472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6355080" y="1463040"/>
            <a:ext cx="2423160" cy="237744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6355080" y="1463040"/>
            <a:ext cx="73152" cy="2377440"/>
          </a:xfrm>
          <a:prstGeom prst="rect">
            <a:avLst/>
          </a:prstGeom>
          <a:solidFill>
            <a:srgbClr val="D684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 txBox="1"/>
          <p:nvPr/>
        </p:nvSpPr>
        <p:spPr>
          <a:xfrm>
            <a:off x="6556248" y="160934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Excel / Sheets</a:t>
            </a:r>
            <a:endParaRPr/>
          </a:p>
        </p:txBody>
      </p:sp>
      <p:sp>
        <p:nvSpPr>
          <p:cNvPr id="330" name="Google Shape;330;p10"/>
          <p:cNvSpPr txBox="1"/>
          <p:nvPr/>
        </p:nvSpPr>
        <p:spPr>
          <a:xfrm>
            <a:off x="6556248" y="2029968"/>
            <a:ext cx="210312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Filtering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summary analysis</a:t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8805672" y="2331720"/>
            <a:ext cx="347472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9235440" y="1463040"/>
            <a:ext cx="2423160" cy="237744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9235440" y="1463040"/>
            <a:ext cx="73152" cy="2377440"/>
          </a:xfrm>
          <a:prstGeom prst="rect">
            <a:avLst/>
          </a:prstGeom>
          <a:solidFill>
            <a:srgbClr val="825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 txBox="1"/>
          <p:nvPr/>
        </p:nvSpPr>
        <p:spPr>
          <a:xfrm>
            <a:off x="9436608" y="160934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Power BI</a:t>
            </a:r>
            <a:endParaRPr/>
          </a:p>
        </p:txBody>
      </p:sp>
      <p:sp>
        <p:nvSpPr>
          <p:cNvPr id="335" name="Google Shape;335;p10"/>
          <p:cNvSpPr txBox="1"/>
          <p:nvPr/>
        </p:nvSpPr>
        <p:spPr>
          <a:xfrm>
            <a:off x="9436608" y="2029968"/>
            <a:ext cx="210312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KPIs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trends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department analysis</a:t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1828800" y="4343400"/>
            <a:ext cx="8503920" cy="1143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1828800" y="4343400"/>
            <a:ext cx="73152" cy="1143000"/>
          </a:xfrm>
          <a:prstGeom prst="rect">
            <a:avLst/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 txBox="1"/>
          <p:nvPr/>
        </p:nvSpPr>
        <p:spPr>
          <a:xfrm>
            <a:off x="2029968" y="4489704"/>
            <a:ext cx="8183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Example management KPIs</a:t>
            </a:r>
            <a:endParaRPr/>
          </a:p>
        </p:txBody>
      </p:sp>
      <p:sp>
        <p:nvSpPr>
          <p:cNvPr id="339" name="Google Shape;339;p10"/>
          <p:cNvSpPr txBox="1"/>
          <p:nvPr/>
        </p:nvSpPr>
        <p:spPr>
          <a:xfrm>
            <a:off x="2029968" y="4910328"/>
            <a:ext cx="81838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Total leave requests • total leave days • pending / approved / rejected • approval rate • average leave days • department and monthly trends</a:t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621792" y="651052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ELMS • Business Analysis Portfolio Project     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UAT &amp; Validation</a:t>
            </a:r>
            <a:endParaRPr/>
          </a:p>
        </p:txBody>
      </p:sp>
      <p:sp>
        <p:nvSpPr>
          <p:cNvPr id="348" name="Google Shape;348;p11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Business-oriented testing was structured around requirements and user workflows.</a:t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640080" y="1417320"/>
            <a:ext cx="1508760" cy="64008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 txBox="1"/>
          <p:nvPr/>
        </p:nvSpPr>
        <p:spPr>
          <a:xfrm>
            <a:off x="713231" y="1490472"/>
            <a:ext cx="1362456" cy="4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2176272" y="1600200"/>
            <a:ext cx="256032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2542032" y="1417320"/>
            <a:ext cx="1508760" cy="64008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 txBox="1"/>
          <p:nvPr/>
        </p:nvSpPr>
        <p:spPr>
          <a:xfrm>
            <a:off x="2615184" y="1490472"/>
            <a:ext cx="1362456" cy="4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Test Scenarios</a:t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4078224" y="1600200"/>
            <a:ext cx="256032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4443984" y="1417320"/>
            <a:ext cx="1508760" cy="64008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 txBox="1"/>
          <p:nvPr/>
        </p:nvSpPr>
        <p:spPr>
          <a:xfrm>
            <a:off x="4517136" y="1490472"/>
            <a:ext cx="1362456" cy="4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Test Cases</a:t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5980176" y="1600200"/>
            <a:ext cx="256032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6345936" y="1417320"/>
            <a:ext cx="1508760" cy="64008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 txBox="1"/>
          <p:nvPr/>
        </p:nvSpPr>
        <p:spPr>
          <a:xfrm>
            <a:off x="6419088" y="1490472"/>
            <a:ext cx="1362456" cy="4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Execution</a:t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7882128" y="1600200"/>
            <a:ext cx="256032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8247888" y="1417320"/>
            <a:ext cx="1508760" cy="64008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 txBox="1"/>
          <p:nvPr/>
        </p:nvSpPr>
        <p:spPr>
          <a:xfrm>
            <a:off x="8321040" y="1490472"/>
            <a:ext cx="1362456" cy="4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Defect Log</a:t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9784080" y="1600200"/>
            <a:ext cx="256032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10149840" y="1417320"/>
            <a:ext cx="1508760" cy="64008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 txBox="1"/>
          <p:nvPr/>
        </p:nvSpPr>
        <p:spPr>
          <a:xfrm>
            <a:off x="10222992" y="1490472"/>
            <a:ext cx="1362456" cy="4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UAT Sign-off</a:t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777240" y="2834640"/>
            <a:ext cx="3383280" cy="150876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777240" y="2834640"/>
            <a:ext cx="73152" cy="1508760"/>
          </a:xfrm>
          <a:prstGeom prst="rect">
            <a:avLst/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 txBox="1"/>
          <p:nvPr/>
        </p:nvSpPr>
        <p:spPr>
          <a:xfrm>
            <a:off x="978408" y="2980944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Employee scenarios</a:t>
            </a:r>
            <a:endParaRPr/>
          </a:p>
        </p:txBody>
      </p:sp>
      <p:sp>
        <p:nvSpPr>
          <p:cNvPr id="369" name="Google Shape;369;p11"/>
          <p:cNvSpPr txBox="1"/>
          <p:nvPr/>
        </p:nvSpPr>
        <p:spPr>
          <a:xfrm>
            <a:off x="978408" y="3401568"/>
            <a:ext cx="3063240" cy="795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Login • view balance • submit leave • track status • history / cancellation</a:t>
            </a: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4389120" y="2834640"/>
            <a:ext cx="3383280" cy="150876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4389120" y="2834640"/>
            <a:ext cx="73152" cy="1508760"/>
          </a:xfrm>
          <a:prstGeom prst="rect">
            <a:avLst/>
          </a:prstGeom>
          <a:solidFill>
            <a:srgbClr val="237D5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 txBox="1"/>
          <p:nvPr/>
        </p:nvSpPr>
        <p:spPr>
          <a:xfrm>
            <a:off x="4590288" y="2980944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Manager scenarios</a:t>
            </a:r>
            <a:endParaRPr/>
          </a:p>
        </p:txBody>
      </p:sp>
      <p:sp>
        <p:nvSpPr>
          <p:cNvPr id="373" name="Google Shape;373;p11"/>
          <p:cNvSpPr txBox="1"/>
          <p:nvPr/>
        </p:nvSpPr>
        <p:spPr>
          <a:xfrm>
            <a:off x="4590288" y="3401568"/>
            <a:ext cx="3063240" cy="795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Review request • approve • reject • capture rejection reason</a:t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8001000" y="2834640"/>
            <a:ext cx="3383280" cy="150876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8001000" y="2834640"/>
            <a:ext cx="73152" cy="1508760"/>
          </a:xfrm>
          <a:prstGeom prst="rect">
            <a:avLst/>
          </a:prstGeom>
          <a:solidFill>
            <a:srgbClr val="D684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 txBox="1"/>
          <p:nvPr/>
        </p:nvSpPr>
        <p:spPr>
          <a:xfrm>
            <a:off x="8202168" y="2980944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HR / Management</a:t>
            </a:r>
            <a:endParaRPr/>
          </a:p>
        </p:txBody>
      </p:sp>
      <p:sp>
        <p:nvSpPr>
          <p:cNvPr id="377" name="Google Shape;377;p11"/>
          <p:cNvSpPr txBox="1"/>
          <p:nvPr/>
        </p:nvSpPr>
        <p:spPr>
          <a:xfrm>
            <a:off x="8202168" y="3401568"/>
            <a:ext cx="3063240" cy="795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Manage records • leave types / entitlements • reporting • analytics</a:t>
            </a:r>
            <a:endParaRPr/>
          </a:p>
        </p:txBody>
      </p:sp>
      <p:sp>
        <p:nvSpPr>
          <p:cNvPr id="378" name="Google Shape;378;p11"/>
          <p:cNvSpPr txBox="1"/>
          <p:nvPr/>
        </p:nvSpPr>
        <p:spPr>
          <a:xfrm>
            <a:off x="914400" y="4983480"/>
            <a:ext cx="10332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UAT evidence is documented separately; actual Pass / Fail results should reflect the executed tests rather than assumed outcomes.</a:t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 txBox="1"/>
          <p:nvPr/>
        </p:nvSpPr>
        <p:spPr>
          <a:xfrm>
            <a:off x="621792" y="651052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ELMS • Business Analysis Portfolio Project     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Business Value &amp; BA Skills</a:t>
            </a:r>
            <a:endParaRPr/>
          </a:p>
        </p:txBody>
      </p:sp>
      <p:sp>
        <p:nvSpPr>
          <p:cNvPr id="387" name="Google Shape;387;p1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project demonstrates an end-to-end Business Analysis approach.</a:t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685800" y="1325880"/>
            <a:ext cx="5212080" cy="416052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685800" y="1325880"/>
            <a:ext cx="73152" cy="4160520"/>
          </a:xfrm>
          <a:prstGeom prst="rect">
            <a:avLst/>
          </a:prstGeom>
          <a:solidFill>
            <a:srgbClr val="306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 txBox="1"/>
          <p:nvPr/>
        </p:nvSpPr>
        <p:spPr>
          <a:xfrm>
            <a:off x="886968" y="1472184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Business Value</a:t>
            </a:r>
            <a:endParaRPr/>
          </a:p>
        </p:txBody>
      </p:sp>
      <p:sp>
        <p:nvSpPr>
          <p:cNvPr id="391" name="Google Shape;391;p12"/>
          <p:cNvSpPr txBox="1"/>
          <p:nvPr/>
        </p:nvSpPr>
        <p:spPr>
          <a:xfrm>
            <a:off x="886968" y="1892807"/>
            <a:ext cx="4892040" cy="3447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Centralized leave management</a:t>
            </a: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Better process visibility</a:t>
            </a: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Reduced manual administration</a:t>
            </a: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Improved leave data analysis</a:t>
            </a:r>
            <a:b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Better management decision support</a:t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6263640" y="1325880"/>
            <a:ext cx="5212080" cy="416052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E0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6263640" y="1325880"/>
            <a:ext cx="73152" cy="4160520"/>
          </a:xfrm>
          <a:prstGeom prst="rect">
            <a:avLst/>
          </a:prstGeom>
          <a:solidFill>
            <a:srgbClr val="237D5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 txBox="1"/>
          <p:nvPr/>
        </p:nvSpPr>
        <p:spPr>
          <a:xfrm>
            <a:off x="6464807" y="1472184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BA Skills Demonstrated</a:t>
            </a:r>
            <a:endParaRPr/>
          </a:p>
        </p:txBody>
      </p:sp>
      <p:sp>
        <p:nvSpPr>
          <p:cNvPr id="395" name="Google Shape;395;p12"/>
          <p:cNvSpPr txBox="1"/>
          <p:nvPr/>
        </p:nvSpPr>
        <p:spPr>
          <a:xfrm>
            <a:off x="6464807" y="1892807"/>
            <a:ext cx="4892040" cy="3447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Stakeholder analysis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Requirements elicitation &amp; analysis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BRD / SRS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As-Is / To-Be / Gap analysis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User stories &amp; acceptance criteria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Agile / Jira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Process &amp; system modeling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SQL / Excel / Power BI</a:t>
            </a:r>
            <a:b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UAT</a:t>
            </a:r>
            <a:endParaRPr/>
          </a:p>
        </p:txBody>
      </p:sp>
      <p:sp>
        <p:nvSpPr>
          <p:cNvPr id="396" name="Google Shape;396;p12"/>
          <p:cNvSpPr txBox="1"/>
          <p:nvPr/>
        </p:nvSpPr>
        <p:spPr>
          <a:xfrm>
            <a:off x="1005840" y="5715000"/>
            <a:ext cx="10149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Business Problem → Requirements → Process → Solution → Data → Validation → Business Outcome</a:t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 txBox="1"/>
          <p:nvPr/>
        </p:nvSpPr>
        <p:spPr>
          <a:xfrm>
            <a:off x="621792" y="651052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ELMS • Business Analysis Portfolio Project     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h337bb1e725fc2d90_1_0"/>
          <p:cNvGrpSpPr/>
          <p:nvPr/>
        </p:nvGrpSpPr>
        <p:grpSpPr>
          <a:xfrm>
            <a:off x="609600" y="476250"/>
            <a:ext cx="10972800" cy="1238400"/>
            <a:chOff x="0" y="0"/>
            <a:chExt cx="10972800" cy="1238400"/>
          </a:xfrm>
        </p:grpSpPr>
        <p:sp>
          <p:nvSpPr>
            <p:cNvPr id="404" name="Google Shape;404;h337bb1e725fc2d90_1_0"/>
            <p:cNvSpPr/>
            <p:nvPr/>
          </p:nvSpPr>
          <p:spPr>
            <a:xfrm>
              <a:off x="0" y="0"/>
              <a:ext cx="109728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h337bb1e725fc2d90_1_0"/>
            <p:cNvSpPr txBox="1"/>
            <p:nvPr/>
          </p:nvSpPr>
          <p:spPr>
            <a:xfrm>
              <a:off x="0" y="0"/>
              <a:ext cx="109728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800">
                  <a:solidFill>
                    <a:srgbClr val="142037"/>
                  </a:solidFill>
                  <a:latin typeface="Play"/>
                  <a:ea typeface="Play"/>
                  <a:cs typeface="Play"/>
                  <a:sym typeface="Play"/>
                </a:rPr>
                <a:t>Thank You</a:t>
              </a:r>
              <a:endParaRPr b="1" sz="38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Employee Leave Management &amp; Workforce Analytics System</a:t>
              </a:r>
              <a:endParaRPr b="0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" name="Google Shape;406;h337bb1e725fc2d90_1_0"/>
          <p:cNvGrpSpPr/>
          <p:nvPr/>
        </p:nvGrpSpPr>
        <p:grpSpPr>
          <a:xfrm>
            <a:off x="1524000" y="2000250"/>
            <a:ext cx="9144000" cy="1714500"/>
            <a:chOff x="0" y="0"/>
            <a:chExt cx="9144000" cy="1714500"/>
          </a:xfrm>
        </p:grpSpPr>
        <p:sp>
          <p:nvSpPr>
            <p:cNvPr id="407" name="Google Shape;407;h337bb1e725fc2d90_1_0"/>
            <p:cNvSpPr/>
            <p:nvPr/>
          </p:nvSpPr>
          <p:spPr>
            <a:xfrm>
              <a:off x="0" y="0"/>
              <a:ext cx="9144000" cy="1714500"/>
            </a:xfrm>
            <a:prstGeom prst="roundRect">
              <a:avLst>
                <a:gd fmla="val 13333" name="adj"/>
              </a:avLst>
            </a:prstGeom>
            <a:solidFill>
              <a:srgbClr val="F4F7FB"/>
            </a:solidFill>
            <a:ln cap="flat" cmpd="sng" w="9525">
              <a:solidFill>
                <a:srgbClr val="E0E6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h337bb1e725fc2d90_1_0"/>
            <p:cNvSpPr/>
            <p:nvPr/>
          </p:nvSpPr>
          <p:spPr>
            <a:xfrm>
              <a:off x="0" y="0"/>
              <a:ext cx="76200" cy="1714500"/>
            </a:xfrm>
            <a:prstGeom prst="roundRect">
              <a:avLst>
                <a:gd fmla="val 50000" name="adj"/>
              </a:avLst>
            </a:prstGeom>
            <a:solidFill>
              <a:srgbClr val="3060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h337bb1e725fc2d90_1_0"/>
            <p:cNvSpPr txBox="1"/>
            <p:nvPr/>
          </p:nvSpPr>
          <p:spPr>
            <a:xfrm>
              <a:off x="381000" y="190500"/>
              <a:ext cx="8382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Thank you for reviewing this portfolio project demonstration. This project highlights a complete end-to-end business analysis lifecycle, from initial problem identification to final system validation and analytics delivery.</a:t>
              </a:r>
              <a:endParaRPr b="0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0" name="Google Shape;410;h337bb1e725fc2d90_1_0"/>
          <p:cNvGrpSpPr/>
          <p:nvPr/>
        </p:nvGrpSpPr>
        <p:grpSpPr>
          <a:xfrm>
            <a:off x="1524000" y="4095750"/>
            <a:ext cx="4381500" cy="1428900"/>
            <a:chOff x="0" y="0"/>
            <a:chExt cx="4381500" cy="1428900"/>
          </a:xfrm>
        </p:grpSpPr>
        <p:sp>
          <p:nvSpPr>
            <p:cNvPr id="411" name="Google Shape;411;h337bb1e725fc2d90_1_0"/>
            <p:cNvSpPr/>
            <p:nvPr/>
          </p:nvSpPr>
          <p:spPr>
            <a:xfrm>
              <a:off x="0" y="0"/>
              <a:ext cx="4381500" cy="1428900"/>
            </a:xfrm>
            <a:prstGeom prst="roundRect">
              <a:avLst>
                <a:gd fmla="val 13333" name="adj"/>
              </a:avLst>
            </a:prstGeom>
            <a:solidFill>
              <a:srgbClr val="F4F7FB"/>
            </a:solidFill>
            <a:ln cap="flat" cmpd="sng" w="9525">
              <a:solidFill>
                <a:srgbClr val="E0E6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h337bb1e725fc2d90_1_0"/>
            <p:cNvSpPr/>
            <p:nvPr/>
          </p:nvSpPr>
          <p:spPr>
            <a:xfrm>
              <a:off x="0" y="0"/>
              <a:ext cx="76200" cy="1428900"/>
            </a:xfrm>
            <a:prstGeom prst="roundRect">
              <a:avLst>
                <a:gd fmla="val 50000" name="adj"/>
              </a:avLst>
            </a:prstGeom>
            <a:solidFill>
              <a:srgbClr val="3060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h337bb1e725fc2d90_1_0"/>
            <p:cNvSpPr txBox="1"/>
            <p:nvPr/>
          </p:nvSpPr>
          <p:spPr>
            <a:xfrm>
              <a:off x="285750" y="190500"/>
              <a:ext cx="3810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060A0"/>
                  </a:solidFill>
                  <a:latin typeface="Arial"/>
                  <a:ea typeface="Arial"/>
                  <a:cs typeface="Arial"/>
                  <a:sym typeface="Arial"/>
                </a:rPr>
                <a:t>Project Artifacts &amp; Code</a:t>
              </a:r>
              <a:endParaRPr b="1" sz="1100">
                <a:solidFill>
                  <a:srgbClr val="3060A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2000" u="sng">
                  <a:solidFill>
                    <a:schemeClr val="hlink"/>
                  </a:solidFill>
                  <a:latin typeface="Play"/>
                  <a:ea typeface="Play"/>
                  <a:cs typeface="Play"/>
                  <a:sym typeface="Play"/>
                  <a:hlinkClick r:id="rId4"/>
                </a:rPr>
                <a:t>GitHub Portfolio</a:t>
              </a:r>
              <a:endParaRPr b="1" sz="20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414" name="Google Shape;414;h337bb1e725fc2d90_1_0"/>
          <p:cNvGrpSpPr/>
          <p:nvPr/>
        </p:nvGrpSpPr>
        <p:grpSpPr>
          <a:xfrm>
            <a:off x="6286500" y="4095750"/>
            <a:ext cx="4381500" cy="1428900"/>
            <a:chOff x="0" y="0"/>
            <a:chExt cx="4381500" cy="1428900"/>
          </a:xfrm>
        </p:grpSpPr>
        <p:sp>
          <p:nvSpPr>
            <p:cNvPr id="415" name="Google Shape;415;h337bb1e725fc2d90_1_0"/>
            <p:cNvSpPr/>
            <p:nvPr/>
          </p:nvSpPr>
          <p:spPr>
            <a:xfrm>
              <a:off x="0" y="0"/>
              <a:ext cx="4381500" cy="1428900"/>
            </a:xfrm>
            <a:prstGeom prst="roundRect">
              <a:avLst>
                <a:gd fmla="val 13333" name="adj"/>
              </a:avLst>
            </a:prstGeom>
            <a:solidFill>
              <a:srgbClr val="F4F7FB"/>
            </a:solidFill>
            <a:ln cap="flat" cmpd="sng" w="9525">
              <a:solidFill>
                <a:srgbClr val="E0E6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h337bb1e725fc2d90_1_0"/>
            <p:cNvSpPr/>
            <p:nvPr/>
          </p:nvSpPr>
          <p:spPr>
            <a:xfrm>
              <a:off x="0" y="0"/>
              <a:ext cx="76200" cy="1428900"/>
            </a:xfrm>
            <a:prstGeom prst="roundRect">
              <a:avLst>
                <a:gd fmla="val 50000" name="adj"/>
              </a:avLst>
            </a:prstGeom>
            <a:solidFill>
              <a:srgbClr val="237D5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h337bb1e725fc2d90_1_0"/>
            <p:cNvSpPr txBox="1"/>
            <p:nvPr/>
          </p:nvSpPr>
          <p:spPr>
            <a:xfrm>
              <a:off x="285750" y="190500"/>
              <a:ext cx="3810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37D58"/>
                  </a:solidFill>
                  <a:latin typeface="Arial"/>
                  <a:ea typeface="Arial"/>
                  <a:cs typeface="Arial"/>
                  <a:sym typeface="Arial"/>
                </a:rPr>
                <a:t>Professional Network</a:t>
              </a:r>
              <a:endParaRPr b="1" sz="1100">
                <a:solidFill>
                  <a:srgbClr val="237D5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2000" u="sng">
                  <a:solidFill>
                    <a:schemeClr val="hlink"/>
                  </a:solidFill>
                  <a:latin typeface="Play"/>
                  <a:ea typeface="Play"/>
                  <a:cs typeface="Play"/>
                  <a:sym typeface="Play"/>
                  <a:hlinkClick r:id="rId5"/>
                </a:rPr>
                <a:t>LinkedIn Profile</a:t>
              </a:r>
              <a:endParaRPr b="1" sz="20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18" name="Google Shape;418;h337bb1e725fc2d90_1_0"/>
          <p:cNvSpPr/>
          <p:nvPr/>
        </p:nvSpPr>
        <p:spPr>
          <a:xfrm>
            <a:off x="594360" y="6473952"/>
            <a:ext cx="10972800" cy="18300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9" name="Google Shape;419;h337bb1e725fc2d90_1_0"/>
          <p:cNvGrpSpPr/>
          <p:nvPr/>
        </p:nvGrpSpPr>
        <p:grpSpPr>
          <a:xfrm>
            <a:off x="621792" y="6510528"/>
            <a:ext cx="10789800" cy="228600"/>
            <a:chOff x="0" y="0"/>
            <a:chExt cx="10789800" cy="228600"/>
          </a:xfrm>
        </p:grpSpPr>
        <p:sp>
          <p:nvSpPr>
            <p:cNvPr id="420" name="Google Shape;420;h337bb1e725fc2d90_1_0"/>
            <p:cNvSpPr/>
            <p:nvPr/>
          </p:nvSpPr>
          <p:spPr>
            <a:xfrm>
              <a:off x="0" y="0"/>
              <a:ext cx="107898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h337bb1e725fc2d90_1_0"/>
            <p:cNvSpPr txBox="1"/>
            <p:nvPr/>
          </p:nvSpPr>
          <p:spPr>
            <a:xfrm>
              <a:off x="0" y="0"/>
              <a:ext cx="10789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ELMS • Business Analysis Portfolio Project 13</a:t>
              </a:r>
              <a:endParaRPr b="0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